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 Bold" panose="020B0604020202020204" charset="0"/>
      <p:regular r:id="rId17"/>
    </p:embeddedFont>
    <p:embeddedFont>
      <p:font typeface="Gagalin" panose="020B0604020202020204" charset="0"/>
      <p:regular r:id="rId18"/>
    </p:embeddedFont>
    <p:embeddedFont>
      <p:font typeface="HK Grotesk" panose="020B0604020202020204" charset="0"/>
      <p:regular r:id="rId19"/>
    </p:embeddedFont>
    <p:embeddedFont>
      <p:font typeface="HK Grotesk Bold" panose="020B0604020202020204" charset="0"/>
      <p:regular r:id="rId20"/>
    </p:embeddedFont>
    <p:embeddedFont>
      <p:font typeface="HK Grotesk Medium" panose="020B0604020202020204" charset="0"/>
      <p:regular r:id="rId21"/>
    </p:embeddedFont>
    <p:embeddedFont>
      <p:font typeface="League Spartan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2496" y="0"/>
            <a:ext cx="19132992" cy="10287000"/>
          </a:xfrm>
          <a:custGeom>
            <a:avLst/>
            <a:gdLst/>
            <a:ahLst/>
            <a:cxnLst/>
            <a:rect l="l" t="t" r="r" b="b"/>
            <a:pathLst>
              <a:path w="19132992" h="10287000">
                <a:moveTo>
                  <a:pt x="0" y="0"/>
                </a:moveTo>
                <a:lnTo>
                  <a:pt x="19132992" y="0"/>
                </a:lnTo>
                <a:lnTo>
                  <a:pt x="191329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-2955" t="-10393" r="-2955"/>
            </a:stretch>
          </a:blipFill>
        </p:spPr>
      </p:sp>
      <p:sp>
        <p:nvSpPr>
          <p:cNvPr id="3" name="Freeform 3"/>
          <p:cNvSpPr/>
          <p:nvPr/>
        </p:nvSpPr>
        <p:spPr>
          <a:xfrm rot="5735954">
            <a:off x="-4853722" y="-7181319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735954">
            <a:off x="13064742" y="6640097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070614" y="1594901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95473" y="1272674"/>
            <a:ext cx="3363827" cy="3363827"/>
          </a:xfrm>
          <a:custGeom>
            <a:avLst/>
            <a:gdLst/>
            <a:ahLst/>
            <a:cxnLst/>
            <a:rect l="l" t="t" r="r" b="b"/>
            <a:pathLst>
              <a:path w="3363827" h="3363827">
                <a:moveTo>
                  <a:pt x="0" y="0"/>
                </a:moveTo>
                <a:lnTo>
                  <a:pt x="3363827" y="0"/>
                </a:lnTo>
                <a:lnTo>
                  <a:pt x="3363827" y="3363827"/>
                </a:lnTo>
                <a:lnTo>
                  <a:pt x="0" y="3363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3752" y="1139324"/>
            <a:ext cx="12882356" cy="4929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6"/>
              </a:lnSpc>
            </a:pPr>
            <a:r>
              <a:rPr lang="en-US" sz="704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EFFICIENT FILE MANAGEMENT &amp; DATA STORAGE IN CLOUD-BASED SYSTEMS USING TREES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87433" y="7353847"/>
            <a:ext cx="5933468" cy="247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357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BY:</a:t>
            </a:r>
          </a:p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357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KERMEEN DEBOO S074</a:t>
            </a:r>
          </a:p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357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&amp;</a:t>
            </a:r>
          </a:p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357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SWATI MAHAJAN S091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51627">
            <a:off x="13621612" y="7476238"/>
            <a:ext cx="9332777" cy="9099458"/>
          </a:xfrm>
          <a:custGeom>
            <a:avLst/>
            <a:gdLst/>
            <a:ahLst/>
            <a:cxnLst/>
            <a:rect l="l" t="t" r="r" b="b"/>
            <a:pathLst>
              <a:path w="9332777" h="9099458">
                <a:moveTo>
                  <a:pt x="0" y="0"/>
                </a:moveTo>
                <a:lnTo>
                  <a:pt x="9332776" y="0"/>
                </a:lnTo>
                <a:lnTo>
                  <a:pt x="9332776" y="9099457"/>
                </a:lnTo>
                <a:lnTo>
                  <a:pt x="0" y="909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151627">
            <a:off x="-4538727" y="-6241112"/>
            <a:ext cx="9332777" cy="9099458"/>
          </a:xfrm>
          <a:custGeom>
            <a:avLst/>
            <a:gdLst/>
            <a:ahLst/>
            <a:cxnLst/>
            <a:rect l="l" t="t" r="r" b="b"/>
            <a:pathLst>
              <a:path w="9332777" h="9099458">
                <a:moveTo>
                  <a:pt x="0" y="0"/>
                </a:moveTo>
                <a:lnTo>
                  <a:pt x="9332777" y="0"/>
                </a:lnTo>
                <a:lnTo>
                  <a:pt x="9332777" y="9099457"/>
                </a:lnTo>
                <a:lnTo>
                  <a:pt x="0" y="909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714273" y="864231"/>
            <a:ext cx="7378672" cy="1468329"/>
            <a:chOff x="0" y="0"/>
            <a:chExt cx="1943354" cy="386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3354" cy="386720"/>
            </a:xfrm>
            <a:custGeom>
              <a:avLst/>
              <a:gdLst/>
              <a:ahLst/>
              <a:cxnLst/>
              <a:rect l="l" t="t" r="r" b="b"/>
              <a:pathLst>
                <a:path w="1943354" h="386720">
                  <a:moveTo>
                    <a:pt x="20985" y="0"/>
                  </a:moveTo>
                  <a:lnTo>
                    <a:pt x="1922369" y="0"/>
                  </a:lnTo>
                  <a:cubicBezTo>
                    <a:pt x="1933959" y="0"/>
                    <a:pt x="1943354" y="9395"/>
                    <a:pt x="1943354" y="20985"/>
                  </a:cubicBezTo>
                  <a:lnTo>
                    <a:pt x="1943354" y="365736"/>
                  </a:lnTo>
                  <a:cubicBezTo>
                    <a:pt x="1943354" y="377325"/>
                    <a:pt x="1933959" y="386720"/>
                    <a:pt x="1922369" y="386720"/>
                  </a:cubicBezTo>
                  <a:lnTo>
                    <a:pt x="20985" y="386720"/>
                  </a:lnTo>
                  <a:cubicBezTo>
                    <a:pt x="9395" y="386720"/>
                    <a:pt x="0" y="377325"/>
                    <a:pt x="0" y="365736"/>
                  </a:cubicBezTo>
                  <a:lnTo>
                    <a:pt x="0" y="20985"/>
                  </a:lnTo>
                  <a:cubicBezTo>
                    <a:pt x="0" y="9395"/>
                    <a:pt x="9395" y="0"/>
                    <a:pt x="20985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1943354" cy="510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099"/>
                </a:lnSpc>
                <a:spcBef>
                  <a:spcPct val="0"/>
                </a:spcBef>
              </a:pPr>
              <a:r>
                <a:rPr lang="en-US" sz="6499" b="1">
                  <a:solidFill>
                    <a:srgbClr val="F8DCB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INTRODUCTION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864231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208242" y="2948706"/>
            <a:ext cx="17467542" cy="5870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8700" lvl="1" indent="-359350" algn="l">
              <a:lnSpc>
                <a:spcPts val="4660"/>
              </a:lnSpc>
              <a:buFont typeface="Arial"/>
              <a:buChar char="•"/>
            </a:pPr>
            <a:r>
              <a:rPr lang="en-US" sz="332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Cloud-based systems are widely used to store large amounts of diverse data, such as text documents, images, and multimedia files.</a:t>
            </a:r>
          </a:p>
          <a:p>
            <a:pPr algn="l">
              <a:lnSpc>
                <a:spcPts val="4660"/>
              </a:lnSpc>
            </a:pPr>
            <a:endParaRPr lang="en-US" sz="3328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718700" lvl="1" indent="-359350" algn="l">
              <a:lnSpc>
                <a:spcPts val="4660"/>
              </a:lnSpc>
              <a:buFont typeface="Arial"/>
              <a:buChar char="•"/>
            </a:pPr>
            <a:r>
              <a:rPr lang="en-US" sz="332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As the amount of data grows, ensuring efficient storage, fast retrieval, and dynamic updates becomes increasingly important.</a:t>
            </a:r>
          </a:p>
          <a:p>
            <a:pPr algn="l">
              <a:lnSpc>
                <a:spcPts val="4660"/>
              </a:lnSpc>
            </a:pPr>
            <a:endParaRPr lang="en-US" sz="3328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718700" lvl="1" indent="-359350" algn="l">
              <a:lnSpc>
                <a:spcPts val="4660"/>
              </a:lnSpc>
              <a:buFont typeface="Arial"/>
              <a:buChar char="•"/>
            </a:pPr>
            <a:r>
              <a:rPr lang="en-US" sz="332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Tree data structures, including Huffman Trees, Binary Search Trees (BSTs), B-trees, and Complete Trees, offer efficient ways to solve these challenges in cloud storage systems.</a:t>
            </a:r>
          </a:p>
          <a:p>
            <a:pPr algn="l">
              <a:lnSpc>
                <a:spcPts val="4660"/>
              </a:lnSpc>
            </a:pPr>
            <a:endParaRPr lang="en-US" sz="3328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algn="l">
              <a:lnSpc>
                <a:spcPts val="4660"/>
              </a:lnSpc>
            </a:pPr>
            <a:endParaRPr lang="en-US" sz="3328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16192" y="771550"/>
            <a:ext cx="12547568" cy="1239136"/>
            <a:chOff x="0" y="0"/>
            <a:chExt cx="3304709" cy="326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04709" cy="326357"/>
            </a:xfrm>
            <a:custGeom>
              <a:avLst/>
              <a:gdLst/>
              <a:ahLst/>
              <a:cxnLst/>
              <a:rect l="l" t="t" r="r" b="b"/>
              <a:pathLst>
                <a:path w="3304709" h="326357">
                  <a:moveTo>
                    <a:pt x="12340" y="0"/>
                  </a:moveTo>
                  <a:lnTo>
                    <a:pt x="3292369" y="0"/>
                  </a:lnTo>
                  <a:cubicBezTo>
                    <a:pt x="3299184" y="0"/>
                    <a:pt x="3304709" y="5525"/>
                    <a:pt x="3304709" y="12340"/>
                  </a:cubicBezTo>
                  <a:lnTo>
                    <a:pt x="3304709" y="314017"/>
                  </a:lnTo>
                  <a:cubicBezTo>
                    <a:pt x="3304709" y="320832"/>
                    <a:pt x="3299184" y="326357"/>
                    <a:pt x="3292369" y="326357"/>
                  </a:cubicBezTo>
                  <a:lnTo>
                    <a:pt x="12340" y="326357"/>
                  </a:lnTo>
                  <a:cubicBezTo>
                    <a:pt x="5525" y="326357"/>
                    <a:pt x="0" y="320832"/>
                    <a:pt x="0" y="314017"/>
                  </a:cubicBezTo>
                  <a:lnTo>
                    <a:pt x="0" y="12340"/>
                  </a:lnTo>
                  <a:cubicBezTo>
                    <a:pt x="0" y="5525"/>
                    <a:pt x="5525" y="0"/>
                    <a:pt x="12340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3304709" cy="412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sz="4499" b="1" spc="359">
                  <a:solidFill>
                    <a:srgbClr val="F8DCB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PROBLEM OF CLOUD STORAGE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7100338" y="-158962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300638" y="2942600"/>
            <a:ext cx="16950037" cy="571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0757" lvl="1" indent="-350378" algn="just">
              <a:lnSpc>
                <a:spcPts val="4544"/>
              </a:lnSpc>
              <a:buFont typeface="Arial"/>
              <a:buChar char="•"/>
            </a:pPr>
            <a:r>
              <a:rPr lang="en-US" sz="3245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Data Growth: Companies store huge amounts of diverse data.</a:t>
            </a:r>
          </a:p>
          <a:p>
            <a:pPr algn="just">
              <a:lnSpc>
                <a:spcPts val="4544"/>
              </a:lnSpc>
            </a:pPr>
            <a:endParaRPr lang="en-US" sz="3245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700757" lvl="1" indent="-350378" algn="just">
              <a:lnSpc>
                <a:spcPts val="4544"/>
              </a:lnSpc>
              <a:buFont typeface="Arial"/>
              <a:buChar char="•"/>
            </a:pPr>
            <a:r>
              <a:rPr lang="en-US" sz="3245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File Retrieval: Fast file search is key for performance.</a:t>
            </a:r>
          </a:p>
          <a:p>
            <a:pPr algn="just">
              <a:lnSpc>
                <a:spcPts val="4544"/>
              </a:lnSpc>
            </a:pPr>
            <a:endParaRPr lang="en-US" sz="3245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700757" lvl="1" indent="-350378" algn="just">
              <a:lnSpc>
                <a:spcPts val="4544"/>
              </a:lnSpc>
              <a:buFont typeface="Arial"/>
              <a:buChar char="•"/>
            </a:pPr>
            <a:r>
              <a:rPr lang="en-US" sz="3245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Dynamic Updates: Systems need to handle changes (insert/delete files) efficiently.</a:t>
            </a:r>
          </a:p>
          <a:p>
            <a:pPr algn="just">
              <a:lnSpc>
                <a:spcPts val="4544"/>
              </a:lnSpc>
            </a:pPr>
            <a:endParaRPr lang="en-US" sz="3245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700757" lvl="1" indent="-350378" algn="just">
              <a:lnSpc>
                <a:spcPts val="4544"/>
              </a:lnSpc>
              <a:buFont typeface="Arial"/>
              <a:buChar char="•"/>
            </a:pPr>
            <a:r>
              <a:rPr lang="en-US" sz="3245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Storage Optimization: Minimizing space while maintaining fast access is challenging.</a:t>
            </a:r>
          </a:p>
          <a:p>
            <a:pPr algn="just">
              <a:lnSpc>
                <a:spcPts val="4544"/>
              </a:lnSpc>
            </a:pPr>
            <a:endParaRPr lang="en-US" sz="3245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algn="just">
              <a:lnSpc>
                <a:spcPts val="4544"/>
              </a:lnSpc>
            </a:pPr>
            <a:endParaRPr lang="en-US" sz="3245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algn="just">
              <a:lnSpc>
                <a:spcPts val="4544"/>
              </a:lnSpc>
            </a:pPr>
            <a:endParaRPr lang="en-US" sz="3245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7" name="Freeform 7"/>
          <p:cNvSpPr/>
          <p:nvPr/>
        </p:nvSpPr>
        <p:spPr>
          <a:xfrm rot="1151627">
            <a:off x="13621612" y="6734057"/>
            <a:ext cx="9332777" cy="9099458"/>
          </a:xfrm>
          <a:custGeom>
            <a:avLst/>
            <a:gdLst/>
            <a:ahLst/>
            <a:cxnLst/>
            <a:rect l="l" t="t" r="r" b="b"/>
            <a:pathLst>
              <a:path w="9332777" h="9099458">
                <a:moveTo>
                  <a:pt x="0" y="0"/>
                </a:moveTo>
                <a:lnTo>
                  <a:pt x="9332776" y="0"/>
                </a:lnTo>
                <a:lnTo>
                  <a:pt x="9332776" y="9099458"/>
                </a:lnTo>
                <a:lnTo>
                  <a:pt x="0" y="9099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51627">
            <a:off x="-5528506" y="-4549729"/>
            <a:ext cx="9332777" cy="9099458"/>
          </a:xfrm>
          <a:custGeom>
            <a:avLst/>
            <a:gdLst/>
            <a:ahLst/>
            <a:cxnLst/>
            <a:rect l="l" t="t" r="r" b="b"/>
            <a:pathLst>
              <a:path w="9332777" h="9099458">
                <a:moveTo>
                  <a:pt x="0" y="0"/>
                </a:moveTo>
                <a:lnTo>
                  <a:pt x="9332777" y="0"/>
                </a:lnTo>
                <a:lnTo>
                  <a:pt x="9332777" y="9099458"/>
                </a:lnTo>
                <a:lnTo>
                  <a:pt x="0" y="9099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751398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EFFICIENT DATA STORAGE (COMPRESSION) USING HUFFMAN TREES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243013" y="2540707"/>
            <a:ext cx="14709467" cy="539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5784" lvl="1" indent="-412892" algn="just">
              <a:lnSpc>
                <a:spcPts val="5354"/>
              </a:lnSpc>
              <a:buFont typeface="Arial"/>
              <a:buChar char="•"/>
            </a:pPr>
            <a:r>
              <a:rPr lang="en-US" sz="382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Huffman Trees provide a variable-length encoding scheme.</a:t>
            </a:r>
          </a:p>
          <a:p>
            <a:pPr algn="just">
              <a:lnSpc>
                <a:spcPts val="5354"/>
              </a:lnSpc>
            </a:pPr>
            <a:endParaRPr lang="en-US" sz="3824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825784" lvl="1" indent="-412892" algn="just">
              <a:lnSpc>
                <a:spcPts val="5354"/>
              </a:lnSpc>
              <a:buFont typeface="Arial"/>
              <a:buChar char="•"/>
            </a:pPr>
            <a:r>
              <a:rPr lang="en-US" sz="382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Complexity:</a:t>
            </a:r>
          </a:p>
          <a:p>
            <a:pPr algn="just">
              <a:lnSpc>
                <a:spcPts val="5354"/>
              </a:lnSpc>
            </a:pPr>
            <a:endParaRPr lang="en-US" sz="3824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algn="just">
              <a:lnSpc>
                <a:spcPts val="5354"/>
              </a:lnSpc>
            </a:pPr>
            <a:r>
              <a:rPr lang="en-US" sz="3824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       </a:t>
            </a:r>
            <a:r>
              <a:rPr lang="en-US" sz="382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Time Complexity: O(n log n) for building the tree.</a:t>
            </a:r>
          </a:p>
          <a:p>
            <a:pPr algn="just">
              <a:lnSpc>
                <a:spcPts val="5354"/>
              </a:lnSpc>
            </a:pPr>
            <a:endParaRPr lang="en-US" sz="3824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algn="l">
              <a:lnSpc>
                <a:spcPts val="5354"/>
              </a:lnSpc>
            </a:pPr>
            <a:r>
              <a:rPr lang="en-US" sz="3824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       </a:t>
            </a:r>
            <a:r>
              <a:rPr lang="en-US" sz="382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Space Complexity: Reduced due to data compression.</a:t>
            </a:r>
          </a:p>
          <a:p>
            <a:pPr algn="l">
              <a:lnSpc>
                <a:spcPts val="5354"/>
              </a:lnSpc>
            </a:pPr>
            <a:endParaRPr lang="en-US" sz="3824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7036909" y="-601835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735954">
            <a:off x="12303141" y="6574037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-4394421" y="-5899681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882670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HUFFMAN TREE ALGORITHM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7036909" y="128010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844" y="2833843"/>
            <a:ext cx="17465463" cy="580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165" lvl="1" indent="-355582" algn="l">
              <a:lnSpc>
                <a:spcPts val="4611"/>
              </a:lnSpc>
              <a:buFont typeface="Arial"/>
              <a:buChar char="•"/>
            </a:pPr>
            <a:r>
              <a:rPr lang="en-US" sz="329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Step1: Start</a:t>
            </a:r>
          </a:p>
          <a:p>
            <a:pPr marL="711165" lvl="1" indent="-355582" algn="l">
              <a:lnSpc>
                <a:spcPts val="4611"/>
              </a:lnSpc>
              <a:buFont typeface="Arial"/>
              <a:buChar char="•"/>
            </a:pPr>
            <a:r>
              <a:rPr lang="en-US" sz="329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Step2: Calculate frequencies of each character in data</a:t>
            </a:r>
          </a:p>
          <a:p>
            <a:pPr marL="711165" lvl="1" indent="-355582" algn="l">
              <a:lnSpc>
                <a:spcPts val="4611"/>
              </a:lnSpc>
              <a:buFont typeface="Arial"/>
              <a:buChar char="•"/>
            </a:pPr>
            <a:r>
              <a:rPr lang="en-US" sz="329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Step3: create a priority queue</a:t>
            </a:r>
          </a:p>
          <a:p>
            <a:pPr marL="711165" lvl="1" indent="-355582" algn="l">
              <a:lnSpc>
                <a:spcPts val="4611"/>
              </a:lnSpc>
              <a:buFont typeface="Arial"/>
              <a:buChar char="•"/>
            </a:pPr>
            <a:r>
              <a:rPr lang="en-US" sz="329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Step4: Extract and combine two minimum frequencies and insert in queue</a:t>
            </a:r>
          </a:p>
          <a:p>
            <a:pPr marL="711165" lvl="1" indent="-355582" algn="l">
              <a:lnSpc>
                <a:spcPts val="4611"/>
              </a:lnSpc>
              <a:buFont typeface="Arial"/>
              <a:buChar char="•"/>
            </a:pPr>
            <a:r>
              <a:rPr lang="en-US" sz="329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Step5: Repeat Step 4</a:t>
            </a:r>
          </a:p>
          <a:p>
            <a:pPr marL="711165" lvl="1" indent="-355582" algn="l">
              <a:lnSpc>
                <a:spcPts val="4611"/>
              </a:lnSpc>
              <a:buFont typeface="Arial"/>
              <a:buChar char="•"/>
            </a:pPr>
            <a:r>
              <a:rPr lang="en-US" sz="329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Step6: Traverse the Huffman tree to assign binary codes to each character,Move left (0) or right (1) along the tree branches.</a:t>
            </a:r>
          </a:p>
          <a:p>
            <a:pPr marL="711165" lvl="1" indent="-355582" algn="l">
              <a:lnSpc>
                <a:spcPts val="4611"/>
              </a:lnSpc>
              <a:buFont typeface="Arial"/>
              <a:buChar char="•"/>
            </a:pPr>
            <a:r>
              <a:rPr lang="en-US" sz="329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Step7: Encode the Data Using Huffman Codes</a:t>
            </a:r>
          </a:p>
          <a:p>
            <a:pPr marL="711165" lvl="1" indent="-355582" algn="l">
              <a:lnSpc>
                <a:spcPts val="4611"/>
              </a:lnSpc>
              <a:buFont typeface="Arial"/>
              <a:buChar char="•"/>
            </a:pPr>
            <a:r>
              <a:rPr lang="en-US" sz="329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Step8: End</a:t>
            </a:r>
          </a:p>
          <a:p>
            <a:pPr algn="l">
              <a:lnSpc>
                <a:spcPts val="4611"/>
              </a:lnSpc>
            </a:pPr>
            <a:endParaRPr lang="en-US" sz="3293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7" name="Freeform 7"/>
          <p:cNvSpPr/>
          <p:nvPr/>
        </p:nvSpPr>
        <p:spPr>
          <a:xfrm rot="5735954">
            <a:off x="12303141" y="6695643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1"/>
                </a:lnTo>
                <a:lnTo>
                  <a:pt x="0" y="9664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-5154879" y="-5092749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848752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FILE RETRIEVAL USING BINARY SEARCH TREES (BSTS)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6918667" y="-42294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163984" y="2977525"/>
            <a:ext cx="17978027" cy="5174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9708" lvl="1" indent="-394854" algn="l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BSTs, specifically self-balancing AVL Trees, store file metadata (name, size, creation date).</a:t>
            </a:r>
          </a:p>
          <a:p>
            <a:pPr algn="l">
              <a:lnSpc>
                <a:spcPts val="5120"/>
              </a:lnSpc>
            </a:pPr>
            <a:endParaRPr lang="en-US" sz="365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789708" lvl="1" indent="-394854" algn="l">
              <a:lnSpc>
                <a:spcPts val="5120"/>
              </a:lnSpc>
              <a:buFont typeface="Arial"/>
              <a:buChar char="•"/>
            </a:pPr>
            <a:r>
              <a:rPr lang="en-US" sz="3657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Complexity:</a:t>
            </a:r>
          </a:p>
          <a:p>
            <a:pPr marL="789708" lvl="1" indent="-394854" algn="l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657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Time Complexity: O(log n) for search, insert, and delete.</a:t>
            </a:r>
          </a:p>
          <a:p>
            <a:pPr algn="l">
              <a:lnSpc>
                <a:spcPts val="5120"/>
              </a:lnSpc>
            </a:pPr>
            <a:r>
              <a:rPr lang="en-US" sz="3657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</a:t>
            </a:r>
          </a:p>
          <a:p>
            <a:pPr marL="789708" lvl="1" indent="-394854" algn="l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657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Space Complexity: O(n), proportional to the number of files</a:t>
            </a:r>
          </a:p>
          <a:p>
            <a:pPr algn="l">
              <a:lnSpc>
                <a:spcPts val="5120"/>
              </a:lnSpc>
            </a:pPr>
            <a:endParaRPr lang="en-US" sz="3657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7" name="Freeform 7"/>
          <p:cNvSpPr/>
          <p:nvPr/>
        </p:nvSpPr>
        <p:spPr>
          <a:xfrm rot="5735954">
            <a:off x="-3927459" y="-5973892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11807392" y="6597677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882670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BINARY SEARCH TREE ALGORITHM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7036909" y="128010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4674" y="3508297"/>
            <a:ext cx="16606180" cy="491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373" lvl="1" indent="-377686" algn="l">
              <a:lnSpc>
                <a:spcPts val="4898"/>
              </a:lnSpc>
              <a:buFont typeface="Arial"/>
              <a:buChar char="•"/>
            </a:pPr>
            <a:r>
              <a:rPr lang="en-US" sz="349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Step1: Start</a:t>
            </a:r>
          </a:p>
          <a:p>
            <a:pPr marL="755373" lvl="1" indent="-377686" algn="l">
              <a:lnSpc>
                <a:spcPts val="4898"/>
              </a:lnSpc>
              <a:buFont typeface="Arial"/>
              <a:buChar char="•"/>
            </a:pPr>
            <a:r>
              <a:rPr lang="en-US" sz="349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Step2: if search value == current value, return true</a:t>
            </a:r>
          </a:p>
          <a:p>
            <a:pPr marL="755373" lvl="1" indent="-377686" algn="l">
              <a:lnSpc>
                <a:spcPts val="4898"/>
              </a:lnSpc>
              <a:buFont typeface="Arial"/>
              <a:buChar char="•"/>
            </a:pPr>
            <a:r>
              <a:rPr lang="en-US" sz="349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Step3: if search value &gt; current value, search in left subtree</a:t>
            </a:r>
          </a:p>
          <a:p>
            <a:pPr marL="755373" lvl="1" indent="-377686" algn="l">
              <a:lnSpc>
                <a:spcPts val="4898"/>
              </a:lnSpc>
              <a:buFont typeface="Arial"/>
              <a:buChar char="•"/>
            </a:pPr>
            <a:r>
              <a:rPr lang="en-US" sz="349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Step4: if search value &lt; current value, search in right subtree</a:t>
            </a:r>
          </a:p>
          <a:p>
            <a:pPr marL="755373" lvl="1" indent="-377686" algn="l">
              <a:lnSpc>
                <a:spcPts val="4898"/>
              </a:lnSpc>
              <a:buFont typeface="Arial"/>
              <a:buChar char="•"/>
            </a:pPr>
            <a:r>
              <a:rPr lang="en-US" sz="349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Step5: Repeat the above step till no more traversal is possible</a:t>
            </a:r>
          </a:p>
          <a:p>
            <a:pPr marL="755373" lvl="1" indent="-377686" algn="l">
              <a:lnSpc>
                <a:spcPts val="4898"/>
              </a:lnSpc>
              <a:buFont typeface="Arial"/>
              <a:buChar char="•"/>
            </a:pPr>
            <a:r>
              <a:rPr lang="en-US" sz="349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Step6: If at any iteration, key is found, return True. Else False.</a:t>
            </a:r>
          </a:p>
          <a:p>
            <a:pPr marL="755373" lvl="1" indent="-377686" algn="l">
              <a:lnSpc>
                <a:spcPts val="4898"/>
              </a:lnSpc>
              <a:buFont typeface="Arial"/>
              <a:buChar char="•"/>
            </a:pPr>
            <a:r>
              <a:rPr lang="en-US" sz="349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Step7: End</a:t>
            </a:r>
          </a:p>
          <a:p>
            <a:pPr algn="l">
              <a:lnSpc>
                <a:spcPts val="4898"/>
              </a:lnSpc>
            </a:pPr>
            <a:endParaRPr lang="en-US" sz="3498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7" name="Freeform 7"/>
          <p:cNvSpPr/>
          <p:nvPr/>
        </p:nvSpPr>
        <p:spPr>
          <a:xfrm rot="5735954">
            <a:off x="12303141" y="6695643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1"/>
                </a:lnTo>
                <a:lnTo>
                  <a:pt x="0" y="9664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-5154879" y="-5092749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378210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INTRODUCTON B-TREES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6782414" y="-708655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2225325"/>
            <a:ext cx="13410188" cy="85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7991" lvl="1" indent="-328995" algn="just">
              <a:lnSpc>
                <a:spcPts val="4266"/>
              </a:lnSpc>
              <a:buFont typeface="Arial"/>
              <a:buChar char="•"/>
            </a:pPr>
            <a:r>
              <a:rPr lang="en-US" sz="304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B-tree is a self-balancing tree data structure.</a:t>
            </a:r>
          </a:p>
          <a:p>
            <a:pPr algn="just">
              <a:lnSpc>
                <a:spcPts val="4266"/>
              </a:lnSpc>
            </a:pPr>
            <a:endParaRPr lang="en-US" sz="304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57991" lvl="1" indent="-328995" algn="just">
              <a:lnSpc>
                <a:spcPts val="4266"/>
              </a:lnSpc>
              <a:buFont typeface="Arial"/>
              <a:buChar char="•"/>
            </a:pPr>
            <a:r>
              <a:rPr lang="en-US" sz="304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Allows logarithmic time for search, insertion, deletion, and sequential access.</a:t>
            </a:r>
          </a:p>
          <a:p>
            <a:pPr algn="just">
              <a:lnSpc>
                <a:spcPts val="4266"/>
              </a:lnSpc>
            </a:pPr>
            <a:endParaRPr lang="en-US" sz="304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57991" lvl="1" indent="-328995" algn="just">
              <a:lnSpc>
                <a:spcPts val="4266"/>
              </a:lnSpc>
              <a:buFont typeface="Arial"/>
              <a:buChar char="•"/>
            </a:pPr>
            <a:r>
              <a:rPr lang="en-US" sz="304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Invented by Rudolf Bayer and Ed McCreight in 1972.</a:t>
            </a:r>
          </a:p>
          <a:p>
            <a:pPr algn="just">
              <a:lnSpc>
                <a:spcPts val="4266"/>
              </a:lnSpc>
            </a:pPr>
            <a:endParaRPr lang="en-US" sz="304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57991" lvl="1" indent="-328995" algn="just">
              <a:lnSpc>
                <a:spcPts val="4266"/>
              </a:lnSpc>
              <a:buFont typeface="Arial"/>
              <a:buChar char="•"/>
            </a:pPr>
            <a:r>
              <a:rPr lang="en-US" sz="304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Properties : </a:t>
            </a:r>
          </a:p>
          <a:p>
            <a:pPr algn="just">
              <a:lnSpc>
                <a:spcPts val="4266"/>
              </a:lnSpc>
            </a:pPr>
            <a:endParaRPr lang="en-US" sz="304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57991" lvl="1" indent="-328995" algn="just">
              <a:lnSpc>
                <a:spcPts val="4266"/>
              </a:lnSpc>
              <a:buFont typeface="Arial"/>
              <a:buChar char="•"/>
            </a:pPr>
            <a:r>
              <a:rPr lang="en-US" sz="304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 All leaf nodes are at the same level.</a:t>
            </a:r>
          </a:p>
          <a:p>
            <a:pPr algn="just">
              <a:lnSpc>
                <a:spcPts val="4266"/>
              </a:lnSpc>
            </a:pPr>
            <a:endParaRPr lang="en-US" sz="304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57991" lvl="1" indent="-328995" algn="just">
              <a:lnSpc>
                <a:spcPts val="4266"/>
              </a:lnSpc>
              <a:buFont typeface="Arial"/>
              <a:buChar char="•"/>
            </a:pPr>
            <a:r>
              <a:rPr lang="en-US" sz="304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Nodes can have multiple children and keys.</a:t>
            </a:r>
          </a:p>
          <a:p>
            <a:pPr algn="just">
              <a:lnSpc>
                <a:spcPts val="4266"/>
              </a:lnSpc>
            </a:pPr>
            <a:endParaRPr lang="en-US" sz="304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57991" lvl="1" indent="-328995" algn="just">
              <a:lnSpc>
                <a:spcPts val="4266"/>
              </a:lnSpc>
              <a:buFont typeface="Arial"/>
              <a:buChar char="•"/>
            </a:pPr>
            <a:r>
              <a:rPr lang="en-US" sz="304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Optimized for disk-based storage due to reduced disk I/O.</a:t>
            </a:r>
          </a:p>
          <a:p>
            <a:pPr algn="just">
              <a:lnSpc>
                <a:spcPts val="4266"/>
              </a:lnSpc>
            </a:pPr>
            <a:endParaRPr lang="en-US" sz="304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4266"/>
              </a:lnSpc>
            </a:pPr>
            <a:endParaRPr lang="en-US" sz="304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7" name="Freeform 7"/>
          <p:cNvSpPr/>
          <p:nvPr/>
        </p:nvSpPr>
        <p:spPr>
          <a:xfrm rot="5735954">
            <a:off x="-4274654" y="-6591533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11071283" y="6639660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1"/>
                </a:lnTo>
                <a:lnTo>
                  <a:pt x="0" y="9664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31607" y="4445435"/>
            <a:ext cx="4976056" cy="4812865"/>
          </a:xfrm>
          <a:custGeom>
            <a:avLst/>
            <a:gdLst/>
            <a:ahLst/>
            <a:cxnLst/>
            <a:rect l="l" t="t" r="r" b="b"/>
            <a:pathLst>
              <a:path w="4976056" h="4812865">
                <a:moveTo>
                  <a:pt x="0" y="0"/>
                </a:moveTo>
                <a:lnTo>
                  <a:pt x="4976056" y="0"/>
                </a:lnTo>
                <a:lnTo>
                  <a:pt x="4976056" y="4812865"/>
                </a:lnTo>
                <a:lnTo>
                  <a:pt x="0" y="4812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95" b="-1695"/>
            </a:stretch>
          </a:blipFill>
          <a:ln w="857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1028700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DYNAMIC UPDATES WITH B-TREES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6782414" y="-708655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3001977"/>
            <a:ext cx="16391432" cy="4961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9555" lvl="1" indent="-434777" algn="just">
              <a:lnSpc>
                <a:spcPts val="5638"/>
              </a:lnSpc>
              <a:buFont typeface="Arial"/>
              <a:buChar char="•"/>
            </a:pPr>
            <a:r>
              <a:rPr lang="en-US" sz="402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B-trees allow efficient management of large data blocks.</a:t>
            </a:r>
          </a:p>
          <a:p>
            <a:pPr algn="just">
              <a:lnSpc>
                <a:spcPts val="5638"/>
              </a:lnSpc>
            </a:pPr>
            <a:endParaRPr lang="en-US" sz="402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869555" lvl="1" indent="-434777" algn="just">
              <a:lnSpc>
                <a:spcPts val="5638"/>
              </a:lnSpc>
              <a:buFont typeface="Arial"/>
              <a:buChar char="•"/>
            </a:pPr>
            <a:r>
              <a:rPr lang="en-US" sz="4027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Complexity:</a:t>
            </a:r>
          </a:p>
          <a:p>
            <a:pPr marL="869555" lvl="1" indent="-434777" algn="just">
              <a:lnSpc>
                <a:spcPts val="5638"/>
              </a:lnSpc>
              <a:buFont typeface="Arial"/>
              <a:buChar char="•"/>
            </a:pPr>
            <a:r>
              <a:rPr lang="en-US" sz="4027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Time Complexity: O(log n) for all operations.</a:t>
            </a:r>
          </a:p>
          <a:p>
            <a:pPr algn="just">
              <a:lnSpc>
                <a:spcPts val="5638"/>
              </a:lnSpc>
            </a:pPr>
            <a:endParaRPr lang="en-US" sz="4027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869555" lvl="1" indent="-434777" algn="just">
              <a:lnSpc>
                <a:spcPts val="5638"/>
              </a:lnSpc>
              <a:buFont typeface="Arial"/>
              <a:buChar char="•"/>
            </a:pPr>
            <a:r>
              <a:rPr lang="en-US" sz="4027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Space Complexity: O(n) for storing file metadata.</a:t>
            </a:r>
          </a:p>
          <a:p>
            <a:pPr algn="l">
              <a:lnSpc>
                <a:spcPts val="5638"/>
              </a:lnSpc>
            </a:pPr>
            <a:endParaRPr lang="en-US" sz="4027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7" name="Freeform 7"/>
          <p:cNvSpPr/>
          <p:nvPr/>
        </p:nvSpPr>
        <p:spPr>
          <a:xfrm rot="5735954">
            <a:off x="-4274654" y="-6591533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11071283" y="6639660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1"/>
                </a:lnTo>
                <a:lnTo>
                  <a:pt x="0" y="9664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882670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B-TREE ALGORITHM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7036909" y="128010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844" y="3453636"/>
            <a:ext cx="17487447" cy="517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5460" lvl="1" indent="-397730" algn="l">
              <a:lnSpc>
                <a:spcPts val="5158"/>
              </a:lnSpc>
              <a:buFont typeface="Arial"/>
              <a:buChar char="•"/>
            </a:pPr>
            <a:r>
              <a:rPr lang="en-US" sz="368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Insert File:</a:t>
            </a:r>
          </a:p>
          <a:p>
            <a:pPr marL="795460" lvl="1" indent="-397730" algn="l">
              <a:lnSpc>
                <a:spcPts val="5158"/>
              </a:lnSpc>
              <a:buFont typeface="Arial"/>
              <a:buChar char="•"/>
            </a:pPr>
            <a:r>
              <a:rPr lang="en-US" sz="368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Step1: Start</a:t>
            </a:r>
          </a:p>
          <a:p>
            <a:pPr marL="795460" lvl="1" indent="-397730" algn="l">
              <a:lnSpc>
                <a:spcPts val="5158"/>
              </a:lnSpc>
              <a:buFont typeface="Arial"/>
              <a:buChar char="•"/>
            </a:pPr>
            <a:r>
              <a:rPr lang="en-US" sz="368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Step2: Starting at the root, find the correct child node to insert the new file </a:t>
            </a:r>
          </a:p>
          <a:p>
            <a:pPr marL="795460" lvl="1" indent="-397730" algn="l">
              <a:lnSpc>
                <a:spcPts val="5158"/>
              </a:lnSpc>
              <a:buFont typeface="Arial"/>
              <a:buChar char="•"/>
            </a:pPr>
            <a:r>
              <a:rPr lang="en-US" sz="368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Step3: Insert the file into the leaf node.</a:t>
            </a:r>
          </a:p>
          <a:p>
            <a:pPr marL="795460" lvl="1" indent="-397730" algn="l">
              <a:lnSpc>
                <a:spcPts val="5158"/>
              </a:lnSpc>
              <a:buFont typeface="Arial"/>
              <a:buChar char="•"/>
            </a:pPr>
            <a:r>
              <a:rPr lang="en-US" sz="368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Step4: If the leaf node is full, split it into two nodes and move the middle key up to the parent node.</a:t>
            </a:r>
          </a:p>
          <a:p>
            <a:pPr marL="795460" lvl="1" indent="-397730" algn="l">
              <a:lnSpc>
                <a:spcPts val="5158"/>
              </a:lnSpc>
              <a:buFont typeface="Arial"/>
              <a:buChar char="•"/>
            </a:pPr>
            <a:r>
              <a:rPr lang="en-US" sz="368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Step5: End</a:t>
            </a:r>
          </a:p>
          <a:p>
            <a:pPr algn="l">
              <a:lnSpc>
                <a:spcPts val="5158"/>
              </a:lnSpc>
            </a:pPr>
            <a:endParaRPr lang="en-US" sz="3684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7" name="Freeform 7"/>
          <p:cNvSpPr/>
          <p:nvPr/>
        </p:nvSpPr>
        <p:spPr>
          <a:xfrm rot="5735954">
            <a:off x="12303141" y="6695643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1"/>
                </a:lnTo>
                <a:lnTo>
                  <a:pt x="0" y="9664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-5154879" y="-5092749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882670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B-TREE ALGORITHM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7036909" y="128010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3362119"/>
            <a:ext cx="18288000" cy="472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1874" lvl="1" indent="-415937" algn="l">
              <a:lnSpc>
                <a:spcPts val="5394"/>
              </a:lnSpc>
              <a:buFont typeface="Arial"/>
              <a:buChar char="•"/>
            </a:pPr>
            <a:r>
              <a:rPr lang="en-US" sz="385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Delete File:</a:t>
            </a:r>
          </a:p>
          <a:p>
            <a:pPr marL="831874" lvl="1" indent="-415937" algn="l">
              <a:lnSpc>
                <a:spcPts val="5394"/>
              </a:lnSpc>
              <a:buFont typeface="Arial"/>
              <a:buChar char="•"/>
            </a:pPr>
            <a:r>
              <a:rPr lang="en-US" sz="385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Step1: Start</a:t>
            </a:r>
          </a:p>
          <a:p>
            <a:pPr marL="831874" lvl="1" indent="-415937" algn="l">
              <a:lnSpc>
                <a:spcPts val="5394"/>
              </a:lnSpc>
              <a:buFont typeface="Arial"/>
              <a:buChar char="•"/>
            </a:pPr>
            <a:r>
              <a:rPr lang="en-US" sz="385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Step2: Search the file</a:t>
            </a:r>
          </a:p>
          <a:p>
            <a:pPr marL="831874" lvl="1" indent="-415937" algn="l">
              <a:lnSpc>
                <a:spcPts val="5394"/>
              </a:lnSpc>
              <a:buFont typeface="Arial"/>
              <a:buChar char="•"/>
            </a:pPr>
            <a:r>
              <a:rPr lang="en-US" sz="385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Step3: If the file is in a leaf node, simply remove it.</a:t>
            </a:r>
          </a:p>
          <a:p>
            <a:pPr marL="831874" lvl="1" indent="-415937" algn="l">
              <a:lnSpc>
                <a:spcPts val="5394"/>
              </a:lnSpc>
              <a:buFont typeface="Arial"/>
              <a:buChar char="•"/>
            </a:pPr>
            <a:r>
              <a:rPr lang="en-US" sz="385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Step4: After deletion, if a node has fewer than the minimum number of files, merge it with a sibling or redistribute the key.</a:t>
            </a:r>
          </a:p>
          <a:p>
            <a:pPr marL="831874" lvl="1" indent="-415937" algn="l">
              <a:lnSpc>
                <a:spcPts val="5394"/>
              </a:lnSpc>
              <a:buFont typeface="Arial"/>
              <a:buChar char="•"/>
            </a:pPr>
            <a:r>
              <a:rPr lang="en-US" sz="3853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Step5: End</a:t>
            </a:r>
          </a:p>
        </p:txBody>
      </p:sp>
      <p:sp>
        <p:nvSpPr>
          <p:cNvPr id="7" name="Freeform 7"/>
          <p:cNvSpPr/>
          <p:nvPr/>
        </p:nvSpPr>
        <p:spPr>
          <a:xfrm rot="5735954">
            <a:off x="12303141" y="6695643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1"/>
                </a:lnTo>
                <a:lnTo>
                  <a:pt x="0" y="9664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-5154879" y="-5092749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34204" y="1205714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COMPLETE TREES FOR OPTIMAL MEMORY USAGE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6801273" y="-192321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3441947"/>
            <a:ext cx="16796022" cy="418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5093" lvl="1" indent="-367546" algn="just">
              <a:lnSpc>
                <a:spcPts val="4766"/>
              </a:lnSpc>
              <a:buFont typeface="Arial"/>
              <a:buChar char="•"/>
            </a:pPr>
            <a:r>
              <a:rPr lang="en-US" sz="3404">
                <a:solidFill>
                  <a:srgbClr val="F8DCBF"/>
                </a:solidFill>
                <a:latin typeface="HK Grotesk"/>
                <a:ea typeface="HK Grotesk"/>
                <a:cs typeface="HK Grotesk"/>
                <a:sym typeface="HK Grotesk"/>
              </a:rPr>
              <a:t> Complete Binary Trees ensure balanced, compact storage.</a:t>
            </a:r>
          </a:p>
          <a:p>
            <a:pPr algn="just">
              <a:lnSpc>
                <a:spcPts val="4766"/>
              </a:lnSpc>
            </a:pPr>
            <a:endParaRPr lang="en-US" sz="3404">
              <a:solidFill>
                <a:srgbClr val="F8DCB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735093" lvl="1" indent="-367546" algn="just">
              <a:lnSpc>
                <a:spcPts val="4766"/>
              </a:lnSpc>
              <a:buFont typeface="Arial"/>
              <a:buChar char="•"/>
            </a:pPr>
            <a:r>
              <a:rPr lang="en-US" sz="340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Complexity:</a:t>
            </a:r>
          </a:p>
          <a:p>
            <a:pPr marL="735093" lvl="1" indent="-367546" algn="just">
              <a:lnSpc>
                <a:spcPts val="4766"/>
              </a:lnSpc>
              <a:buFont typeface="Arial"/>
              <a:buChar char="•"/>
            </a:pPr>
            <a:r>
              <a:rPr lang="en-US" sz="340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Time Complexity: O(log n) for insertion, deletion, and search.</a:t>
            </a:r>
          </a:p>
          <a:p>
            <a:pPr algn="just">
              <a:lnSpc>
                <a:spcPts val="4766"/>
              </a:lnSpc>
            </a:pPr>
            <a:endParaRPr lang="en-US" sz="3404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735093" lvl="1" indent="-367546" algn="just">
              <a:lnSpc>
                <a:spcPts val="4766"/>
              </a:lnSpc>
              <a:buFont typeface="Arial"/>
              <a:buChar char="•"/>
            </a:pPr>
            <a:r>
              <a:rPr lang="en-US" sz="3404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Space Complexity: O(n), ensuring efficient memory use.</a:t>
            </a:r>
          </a:p>
          <a:p>
            <a:pPr algn="l">
              <a:lnSpc>
                <a:spcPts val="4766"/>
              </a:lnSpc>
            </a:pPr>
            <a:endParaRPr lang="en-US" sz="3404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7" name="Freeform 7"/>
          <p:cNvSpPr/>
          <p:nvPr/>
        </p:nvSpPr>
        <p:spPr>
          <a:xfrm rot="5735954">
            <a:off x="12812261" y="7002603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-4082019" y="-6313770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882670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COMPLETE TREE ALGORITHM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7036909" y="128010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4674" y="3356533"/>
            <a:ext cx="18314662" cy="407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3087" lvl="1" indent="-416544" algn="l">
              <a:lnSpc>
                <a:spcPts val="5402"/>
              </a:lnSpc>
              <a:buFont typeface="Arial"/>
              <a:buChar char="•"/>
            </a:pPr>
            <a:r>
              <a:rPr lang="en-US" sz="385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Step1: Start</a:t>
            </a:r>
          </a:p>
          <a:p>
            <a:pPr marL="833087" lvl="1" indent="-416544" algn="l">
              <a:lnSpc>
                <a:spcPts val="5402"/>
              </a:lnSpc>
              <a:buFont typeface="Arial"/>
              <a:buChar char="•"/>
            </a:pPr>
            <a:r>
              <a:rPr lang="en-US" sz="385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Step2: Place the root at index 0.</a:t>
            </a:r>
          </a:p>
          <a:p>
            <a:pPr marL="833087" lvl="1" indent="-416544" algn="l">
              <a:lnSpc>
                <a:spcPts val="5402"/>
              </a:lnSpc>
              <a:buFont typeface="Arial"/>
              <a:buChar char="•"/>
            </a:pPr>
            <a:r>
              <a:rPr lang="en-US" sz="385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Step3: For each node at index i</a:t>
            </a:r>
          </a:p>
          <a:p>
            <a:pPr marL="833087" lvl="1" indent="-416544" algn="l">
              <a:lnSpc>
                <a:spcPts val="5402"/>
              </a:lnSpc>
              <a:buFont typeface="Arial"/>
              <a:buChar char="•"/>
            </a:pPr>
            <a:r>
              <a:rPr lang="en-US" sz="385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Step4:  Place the left child at index 2*i + 1.</a:t>
            </a:r>
          </a:p>
          <a:p>
            <a:pPr marL="833087" lvl="1" indent="-416544" algn="l">
              <a:lnSpc>
                <a:spcPts val="5402"/>
              </a:lnSpc>
              <a:buFont typeface="Arial"/>
              <a:buChar char="•"/>
            </a:pPr>
            <a:r>
              <a:rPr lang="en-US" sz="385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Step5:   Place the right child at index 2*i + 2.</a:t>
            </a:r>
          </a:p>
          <a:p>
            <a:pPr marL="833087" lvl="1" indent="-416544" algn="l">
              <a:lnSpc>
                <a:spcPts val="5402"/>
              </a:lnSpc>
              <a:buFont typeface="Arial"/>
              <a:buChar char="•"/>
            </a:pPr>
            <a:r>
              <a:rPr lang="en-US" sz="385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Step6: End</a:t>
            </a:r>
          </a:p>
        </p:txBody>
      </p:sp>
      <p:sp>
        <p:nvSpPr>
          <p:cNvPr id="7" name="Freeform 7"/>
          <p:cNvSpPr/>
          <p:nvPr/>
        </p:nvSpPr>
        <p:spPr>
          <a:xfrm rot="5735954">
            <a:off x="12522452" y="6832297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-5154879" y="-5092749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36850" y="882670"/>
            <a:ext cx="13014300" cy="1300980"/>
            <a:chOff x="0" y="0"/>
            <a:chExt cx="3427634" cy="342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7635" cy="342645"/>
            </a:xfrm>
            <a:custGeom>
              <a:avLst/>
              <a:gdLst/>
              <a:ahLst/>
              <a:cxnLst/>
              <a:rect l="l" t="t" r="r" b="b"/>
              <a:pathLst>
                <a:path w="3427635" h="342645">
                  <a:moveTo>
                    <a:pt x="11898" y="0"/>
                  </a:moveTo>
                  <a:lnTo>
                    <a:pt x="3415737" y="0"/>
                  </a:lnTo>
                  <a:cubicBezTo>
                    <a:pt x="3422308" y="0"/>
                    <a:pt x="3427635" y="5327"/>
                    <a:pt x="3427635" y="11898"/>
                  </a:cubicBezTo>
                  <a:lnTo>
                    <a:pt x="3427635" y="330747"/>
                  </a:lnTo>
                  <a:cubicBezTo>
                    <a:pt x="3427635" y="333903"/>
                    <a:pt x="3426381" y="336929"/>
                    <a:pt x="3424150" y="339160"/>
                  </a:cubicBezTo>
                  <a:cubicBezTo>
                    <a:pt x="3421919" y="341392"/>
                    <a:pt x="3418892" y="342645"/>
                    <a:pt x="3415737" y="342645"/>
                  </a:cubicBezTo>
                  <a:lnTo>
                    <a:pt x="11898" y="342645"/>
                  </a:lnTo>
                  <a:cubicBezTo>
                    <a:pt x="5327" y="342645"/>
                    <a:pt x="0" y="337318"/>
                    <a:pt x="0" y="330747"/>
                  </a:cubicBezTo>
                  <a:lnTo>
                    <a:pt x="0" y="11898"/>
                  </a:lnTo>
                  <a:cubicBezTo>
                    <a:pt x="0" y="8742"/>
                    <a:pt x="1253" y="5716"/>
                    <a:pt x="3485" y="3485"/>
                  </a:cubicBezTo>
                  <a:cubicBezTo>
                    <a:pt x="5716" y="1253"/>
                    <a:pt x="8742" y="0"/>
                    <a:pt x="11898" y="0"/>
                  </a:cubicBezTo>
                  <a:close/>
                </a:path>
              </a:pathLst>
            </a:custGeom>
            <a:solidFill>
              <a:srgbClr val="001F3D"/>
            </a:solidFill>
            <a:ln w="38100" cap="sq">
              <a:gradFill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27634" cy="39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8DCB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CONCLUSION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6646713" y="88267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3268586"/>
            <a:ext cx="16849339" cy="43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369" lvl="1" indent="-377684" algn="just">
              <a:lnSpc>
                <a:spcPts val="4898"/>
              </a:lnSpc>
              <a:buFont typeface="Arial"/>
              <a:buChar char="•"/>
            </a:pPr>
            <a:r>
              <a:rPr lang="en-US" sz="349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The combination of tree structures like Huffman Trees, BSTs, B-trees, and Complete Trees offers a comprehensive solution for efficient cloud-based file management.</a:t>
            </a:r>
          </a:p>
          <a:p>
            <a:pPr algn="just">
              <a:lnSpc>
                <a:spcPts val="4898"/>
              </a:lnSpc>
            </a:pPr>
            <a:endParaRPr lang="en-US" sz="3498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755369" lvl="1" indent="-377684" algn="just">
              <a:lnSpc>
                <a:spcPts val="4898"/>
              </a:lnSpc>
              <a:buFont typeface="Arial"/>
              <a:buChar char="•"/>
            </a:pPr>
            <a:r>
              <a:rPr lang="en-US" sz="3498" b="1">
                <a:solidFill>
                  <a:srgbClr val="F8DCB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Each structure addresses different aspects of the problem: space efficiency, fast retrieval, dynamic updates, and optimal memory usage.</a:t>
            </a:r>
          </a:p>
          <a:p>
            <a:pPr algn="l">
              <a:lnSpc>
                <a:spcPts val="4898"/>
              </a:lnSpc>
            </a:pPr>
            <a:endParaRPr lang="en-US" sz="3498" b="1">
              <a:solidFill>
                <a:srgbClr val="F8DCBF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7" name="Freeform 7"/>
          <p:cNvSpPr/>
          <p:nvPr/>
        </p:nvSpPr>
        <p:spPr>
          <a:xfrm rot="5735954">
            <a:off x="-4346353" y="-5512086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735954">
            <a:off x="10077103" y="7354148"/>
            <a:ext cx="9912318" cy="9664510"/>
          </a:xfrm>
          <a:custGeom>
            <a:avLst/>
            <a:gdLst/>
            <a:ahLst/>
            <a:cxnLst/>
            <a:rect l="l" t="t" r="r" b="b"/>
            <a:pathLst>
              <a:path w="9912318" h="9664510">
                <a:moveTo>
                  <a:pt x="0" y="0"/>
                </a:moveTo>
                <a:lnTo>
                  <a:pt x="9912318" y="0"/>
                </a:lnTo>
                <a:lnTo>
                  <a:pt x="9912318" y="9664510"/>
                </a:lnTo>
                <a:lnTo>
                  <a:pt x="0" y="966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</a:blip>
            <a:stretch>
              <a:fillRect l="-185" r="-18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05400" y="4533900"/>
            <a:ext cx="7543800" cy="1470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1F3D"/>
                </a:solidFill>
                <a:latin typeface="Gagalin"/>
                <a:ea typeface="Gagalin"/>
                <a:cs typeface="Gagalin"/>
                <a:sym typeface="Gagalin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792</Words>
  <Application>Microsoft Office PowerPoint</Application>
  <PresentationFormat>Custom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Gagalin</vt:lpstr>
      <vt:lpstr>League Spartan</vt:lpstr>
      <vt:lpstr>Calibri</vt:lpstr>
      <vt:lpstr>HK Grotesk Medium</vt:lpstr>
      <vt:lpstr>HK Grotesk Bold</vt:lpstr>
      <vt:lpstr>Canva Sans Bold</vt:lpstr>
      <vt:lpstr>HK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instant</dc:title>
  <dc:creator>Swati</dc:creator>
  <cp:lastModifiedBy>swati mahajan</cp:lastModifiedBy>
  <cp:revision>2</cp:revision>
  <dcterms:created xsi:type="dcterms:W3CDTF">2006-08-16T00:00:00Z</dcterms:created>
  <dcterms:modified xsi:type="dcterms:W3CDTF">2024-10-20T12:02:40Z</dcterms:modified>
  <dc:identifier>DAGT9OcNxaI</dc:identifier>
</cp:coreProperties>
</file>